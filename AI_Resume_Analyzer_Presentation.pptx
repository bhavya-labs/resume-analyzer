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300" b="1">
                <a:solidFill>
                  <a:srgbClr val="06B6D4"/>
                </a:solidFill>
                <a:latin typeface="Century Gothic"/>
              </a:defRPr>
            </a:pPr>
            <a:r>
              <a:t>INTELLIGENT ATS OPTIMIZATION SYSTEM</a:t>
            </a:r>
          </a:p>
          <a:p>
            <a:pPr>
              <a:spcAft>
                <a:spcPts val="2000"/>
              </a:spcAft>
              <a:defRPr sz="5400" b="1">
                <a:solidFill>
                  <a:srgbClr val="F8FAFC"/>
                </a:solidFill>
                <a:latin typeface="Century Gothic"/>
              </a:defRPr>
            </a:pPr>
            <a:r>
              <a:t>AI Resume Analyzer</a:t>
            </a:r>
            <a:br/>
            <a:r>
              <a:t>&amp; ATS Optimizer</a:t>
            </a:r>
          </a:p>
          <a:p>
            <a:pPr>
              <a:defRPr sz="1800">
                <a:solidFill>
                  <a:srgbClr val="94A3B8"/>
                </a:solidFill>
                <a:latin typeface="Calibri"/>
              </a:defRPr>
            </a:pPr>
            <a:r>
              <a:t>Empowering job seekers with semantic search matching, NLP skills-gap analysis, and automated professional bullet writing.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entury Gothic"/>
              </a:defRPr>
            </a:pPr>
            <a:r>
              <a:t>AI RESUME ANALYZER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entury Gothic"/>
              </a:defRPr>
            </a:pPr>
            <a:r>
              <a:t>The Recruitment Gap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EF4444"/>
                </a:solidFill>
                <a:latin typeface="Century Gothic"/>
              </a:defRPr>
            </a:pPr>
            <a:r>
              <a:t>THE PROBLEM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• Rigid ATS Algorithms: Over 75% of resumes are discarded automatically due to simple keyword match failures.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• Keyword Stuffing vs. Context: Traditional screening tools fail to understand semantic relevance and synonyms.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• Invisible Rejection: Candidates lack actionable feedback, leaving them unaware of why their resumes fail to pass.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• Formatting Bottlenecks: Unstructured PDFs and poorly organized sections lead to parsing glitches.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10B981"/>
                </a:solidFill>
                <a:latin typeface="Century Gothic"/>
              </a:defRPr>
            </a:pPr>
            <a:r>
              <a:t>THE SOLUTION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• Semantic Score (Sentence Transformers): Evaluates true contextual match, not just exact keyword repetitions.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• Skills-Gap Analysis: Auto-extracts missing skills and provides clear comparisons with the job description.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• AI Bullet Point Rewriter: Instantly generates high-impact action bullets for missing skills to integrate directly.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• Checklist and Recommendations: Scans formatting layout and ranks mock job recommendations on similarity.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entury Gothic"/>
              </a:defRPr>
            </a:pPr>
            <a:r>
              <a:t>AI RESUME ANALYZER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entury Gothic"/>
              </a:defRPr>
            </a:pPr>
            <a:r>
              <a:t>System Architecture &amp; Tech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6B6D4"/>
                </a:solidFill>
                <a:latin typeface="Century Gothic"/>
              </a:defRPr>
            </a:pPr>
            <a:r>
              <a:t>01.</a:t>
            </a:r>
          </a:p>
          <a:p>
            <a:pPr>
              <a:defRPr sz="1800" b="1">
                <a:solidFill>
                  <a:srgbClr val="F8FAFC"/>
                </a:solidFill>
                <a:latin typeface="Century Gothic"/>
              </a:defRPr>
            </a:pPr>
            <a:r>
              <a:t>Parser Engine</a:t>
            </a:r>
          </a:p>
          <a:p>
            <a:pPr>
              <a:spcAft>
                <a:spcPts val="1500"/>
              </a:spcAft>
              <a:defRPr sz="1400" i="1">
                <a:solidFill>
                  <a:srgbClr val="10B981"/>
                </a:solidFill>
                <a:latin typeface="Calibri"/>
              </a:defRPr>
            </a:pPr>
            <a:r>
              <a:t>PyMuPDF (fitz)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Extracts raw text, counts word density, validates page length constraints, and detects critical section headers (Experience, Projects, Education, Contact).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4688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6B6D4"/>
                </a:solidFill>
                <a:latin typeface="Century Gothic"/>
              </a:defRPr>
            </a:pPr>
            <a:r>
              <a:t>02.</a:t>
            </a:r>
          </a:p>
          <a:p>
            <a:pPr>
              <a:defRPr sz="1800" b="1">
                <a:solidFill>
                  <a:srgbClr val="F8FAFC"/>
                </a:solidFill>
                <a:latin typeface="Century Gothic"/>
              </a:defRPr>
            </a:pPr>
            <a:r>
              <a:t>NLP Core</a:t>
            </a:r>
          </a:p>
          <a:p>
            <a:pPr>
              <a:spcAft>
                <a:spcPts val="1500"/>
              </a:spcAft>
              <a:defRPr sz="1400" i="1">
                <a:solidFill>
                  <a:srgbClr val="10B981"/>
                </a:solidFill>
                <a:latin typeface="Calibri"/>
              </a:defRPr>
            </a:pPr>
            <a:r>
              <a:t>Sentence Transformers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Uses the pre-trained 'all-MiniLM-L6-v2' model to map resume and job description to high-dimensional vectors and calculates Cosine Similarity.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24688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6B6D4"/>
                </a:solidFill>
                <a:latin typeface="Century Gothic"/>
              </a:defRPr>
            </a:pPr>
            <a:r>
              <a:t>03.</a:t>
            </a:r>
          </a:p>
          <a:p>
            <a:pPr>
              <a:defRPr sz="1800" b="1">
                <a:solidFill>
                  <a:srgbClr val="F8FAFC"/>
                </a:solidFill>
                <a:latin typeface="Century Gothic"/>
              </a:defRPr>
            </a:pPr>
            <a:r>
              <a:t>Backend API</a:t>
            </a:r>
          </a:p>
          <a:p>
            <a:pPr>
              <a:spcAft>
                <a:spcPts val="1500"/>
              </a:spcAft>
              <a:defRPr sz="1400" i="1">
                <a:solidFill>
                  <a:srgbClr val="10B981"/>
                </a:solidFill>
                <a:latin typeface="Calibri"/>
              </a:defRPr>
            </a:pPr>
            <a:r>
              <a:t>Flask &amp; CORS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Python Flask server serving REST endpoints (/analyze, /history, /jobs). Integrates SQLite database tables to store scan history and seeds mock job templates.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645920"/>
            <a:ext cx="24688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6B6D4"/>
                </a:solidFill>
                <a:latin typeface="Century Gothic"/>
              </a:defRPr>
            </a:pPr>
            <a:r>
              <a:t>04.</a:t>
            </a:r>
          </a:p>
          <a:p>
            <a:pPr>
              <a:defRPr sz="1800" b="1">
                <a:solidFill>
                  <a:srgbClr val="F8FAFC"/>
                </a:solidFill>
                <a:latin typeface="Century Gothic"/>
              </a:defRPr>
            </a:pPr>
            <a:r>
              <a:t>Client Frontend</a:t>
            </a:r>
          </a:p>
          <a:p>
            <a:pPr>
              <a:spcAft>
                <a:spcPts val="1500"/>
              </a:spcAft>
              <a:defRPr sz="1400" i="1">
                <a:solidFill>
                  <a:srgbClr val="10B981"/>
                </a:solidFill>
                <a:latin typeface="Calibri"/>
              </a:defRPr>
            </a:pPr>
            <a:r>
              <a:t>Modern Vanilla JS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Ultra-responsive CSS3 dark-theme design. Integrates dynamic Chart.js bar graphs, circular SVG gauge paths, sidebar state, and responsive overlays.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entury Gothic"/>
              </a:defRPr>
            </a:pPr>
            <a:r>
              <a:t>AI RESUME ANALYZER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entury Gothic"/>
              </a:defRPr>
            </a:pPr>
            <a:r>
              <a:t>ATS Scoring &amp; Dynamic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Composite ATS Score: Weighted score calculation combining Semantic Similarity (50%), Skill Coverage (30%), and Document Formatting (20%).</a:t>
            </a:r>
          </a:p>
          <a:p>
            <a:pPr>
              <a:spcAft>
                <a:spcPts val="16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Semantic Fit: Utilizes PyTorch sentence embeddings to look beyond keyword matches, scoring conceptual alignment.</a:t>
            </a:r>
          </a:p>
          <a:p>
            <a:pPr>
              <a:spcAft>
                <a:spcPts val="16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Skills Gap Panel: Automatically segregates overlapping matched keywords from critical missing items.</a:t>
            </a:r>
          </a:p>
          <a:p>
            <a:pPr>
              <a:spcAft>
                <a:spcPts val="16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Interactive Charting: Chart.js bar graphs draw live parameter breakdowns for candidates to isolate and address weaknesses.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D43CB4-8B24-9F75-F389-02F461C85E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002" r="10783" b="17111"/>
          <a:stretch>
            <a:fillRect/>
          </a:stretch>
        </p:blipFill>
        <p:spPr>
          <a:xfrm>
            <a:off x="5696584" y="1371600"/>
            <a:ext cx="6282055" cy="42327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entury Gothic"/>
              </a:defRPr>
            </a:pPr>
            <a:r>
              <a:t>AI RESUME ANALYZER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entury Gothic"/>
              </a:defRPr>
            </a:pPr>
            <a:r>
              <a:t>Interactive AI Resume Rewriter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Actionable Intervention: Simply clicking on any detected 'Missing Skill' tag opens the rewriter modal window.</a:t>
            </a:r>
          </a:p>
          <a:p>
            <a:pPr>
              <a:spcAft>
                <a:spcPts val="16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ATS-Optimized Formatting: Generates concrete bullet point descriptions showcasing real metrics and business impact.</a:t>
            </a:r>
          </a:p>
          <a:p>
            <a:pPr>
              <a:spcAft>
                <a:spcPts val="16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Pre-designed Skill Library: Contains robust templates for 50+ core skills (Python, Docker, React, AWS, Kubernetes, etc.) and falls back to dynamic templates.</a:t>
            </a:r>
          </a:p>
          <a:p>
            <a:pPr>
              <a:spcAft>
                <a:spcPts val="16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One-Click Copy: Copies formatted sentences straight to the clipboard to speed up user editing.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09D51EC-FF61-059F-D06C-9A906B60D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672959"/>
            <a:ext cx="4961050" cy="32464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entury Gothic"/>
              </a:defRPr>
            </a:pPr>
            <a:r>
              <a:t>AI RESUME ANALYZER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entury Gothic"/>
              </a:defRPr>
            </a:pPr>
            <a:r>
              <a:t>Smart Job Recommendations &amp; 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Cosine Similarity Ranking: Matches candidate profile against mock positions in the SQLite database.</a:t>
            </a:r>
          </a:p>
          <a:p>
            <a:pPr>
              <a:spcAft>
                <a:spcPts val="16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Automatic Feed: Pulls description, salary, company location details and calculates a dynamic % match.</a:t>
            </a:r>
          </a:p>
          <a:p>
            <a:pPr>
              <a:spcAft>
                <a:spcPts val="16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Quick Fill: Clicking any job card inserts its description directly into the scanner input for instant cross-comparison.</a:t>
            </a:r>
          </a:p>
          <a:p>
            <a:pPr>
              <a:spcAft>
                <a:spcPts val="16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Database History: Persists all past scans to a localized database file, supporting list loads and item deletion.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AD180E-D72C-A64B-D3C5-3C077DAB34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33" r="3457"/>
          <a:stretch>
            <a:fillRect/>
          </a:stretch>
        </p:blipFill>
        <p:spPr>
          <a:xfrm>
            <a:off x="5486400" y="1513283"/>
            <a:ext cx="6505780" cy="33988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entury Gothic"/>
              </a:defRPr>
            </a:pPr>
            <a:r>
              <a:t>AI RESUME ANALYZER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entury Gothic"/>
              </a:defRPr>
            </a:pPr>
            <a:r>
              <a:t>Future Enhancements &amp;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6B6D4"/>
                </a:solidFill>
                <a:latin typeface="Century Gothic"/>
              </a:defRPr>
            </a:pPr>
            <a:r>
              <a:t>PHASE 01</a:t>
            </a:r>
          </a:p>
          <a:p>
            <a:pPr>
              <a:spcAft>
                <a:spcPts val="1500"/>
              </a:spcAft>
              <a:defRPr sz="2000" b="1">
                <a:solidFill>
                  <a:srgbClr val="F8FAFC"/>
                </a:solidFill>
                <a:latin typeface="Century Gothic"/>
              </a:defRPr>
            </a:pPr>
            <a:r>
              <a:t>Generative LLM Integration</a:t>
            </a:r>
          </a:p>
          <a:p>
            <a:pPr>
              <a:defRPr sz="1500">
                <a:solidFill>
                  <a:srgbClr val="94A3B8"/>
                </a:solidFill>
                <a:latin typeface="Calibri"/>
              </a:defRPr>
            </a:pPr>
            <a:r>
              <a:t>Integrate open LLM models (such as Llama 3 or Gemini APIs) to write highly customized project and work descriptions tailored to the candidate's exact background, eliminating static templates.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628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6B6D4"/>
                </a:solidFill>
                <a:latin typeface="Century Gothic"/>
              </a:defRPr>
            </a:pPr>
            <a:r>
              <a:t>PHASE 02</a:t>
            </a:r>
          </a:p>
          <a:p>
            <a:pPr>
              <a:spcAft>
                <a:spcPts val="1500"/>
              </a:spcAft>
              <a:defRPr sz="2000" b="1">
                <a:solidFill>
                  <a:srgbClr val="F8FAFC"/>
                </a:solidFill>
                <a:latin typeface="Century Gothic"/>
              </a:defRPr>
            </a:pPr>
            <a:r>
              <a:t>Real-time Job Board Sync</a:t>
            </a:r>
          </a:p>
          <a:p>
            <a:pPr>
              <a:defRPr sz="1500">
                <a:solidFill>
                  <a:srgbClr val="94A3B8"/>
                </a:solidFill>
                <a:latin typeface="Calibri"/>
              </a:defRPr>
            </a:pPr>
            <a:r>
              <a:t>Connect matching routines with public API endpoints (LinkedIn, Indeed, Reed) to fetch real, active job descriptions rather than mock SQLite records, providing direct application pathways.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8388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6B6D4"/>
                </a:solidFill>
                <a:latin typeface="Century Gothic"/>
              </a:defRPr>
            </a:pPr>
            <a:r>
              <a:t>PHASE 03</a:t>
            </a:r>
          </a:p>
          <a:p>
            <a:pPr>
              <a:spcAft>
                <a:spcPts val="1500"/>
              </a:spcAft>
              <a:defRPr sz="2000" b="1">
                <a:solidFill>
                  <a:srgbClr val="F8FAFC"/>
                </a:solidFill>
                <a:latin typeface="Century Gothic"/>
              </a:defRPr>
            </a:pPr>
            <a:r>
              <a:t>In-app PDF Editor</a:t>
            </a:r>
          </a:p>
          <a:p>
            <a:pPr>
              <a:defRPr sz="1500">
                <a:solidFill>
                  <a:srgbClr val="94A3B8"/>
                </a:solidFill>
                <a:latin typeface="Calibri"/>
              </a:defRPr>
            </a:pPr>
            <a:r>
              <a:t>Implement a web-based LaTeX or React-PDF editor inside the portal. Enables job seekers to edit and compile resume text dynamically and export a fully-optimized, parser-friendly PDF.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696</Words>
  <Application>Microsoft Office PowerPoint</Application>
  <PresentationFormat>Custom</PresentationFormat>
  <Paragraphs>62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Alakunta Bhavya</cp:lastModifiedBy>
  <cp:revision>2</cp:revision>
  <dcterms:created xsi:type="dcterms:W3CDTF">2013-01-27T09:14:16Z</dcterms:created>
  <dcterms:modified xsi:type="dcterms:W3CDTF">2026-05-29T14:40:41Z</dcterms:modified>
  <cp:category/>
</cp:coreProperties>
</file>